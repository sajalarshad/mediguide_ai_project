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image" Target="../media/image-9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10515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assets/icons/steth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696" y="125272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488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MediGuide AI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371600" y="30632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Symptom Assessment &amp; Patient Guidance Assistant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6118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LangChain + Streamlit Programming Assignment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27448" y="4343400"/>
            <a:ext cx="2743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59893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Sajal Arshad  •  AI / ML Engineer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635508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8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 — not a substitute for professional medical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patients need better first-line guidance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often turn to random websites when symptoms appear.
</a:t>
            </a:r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produces: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Unreliable, contradictory information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anxiety and confusion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 skipped professional care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5577840" cy="1234440"/>
          </a:xfrm>
          <a:prstGeom prst="roundRect">
            <a:avLst>
              <a:gd name="adj" fmla="val 8889"/>
            </a:avLst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5138928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assets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52852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4846320"/>
            <a:ext cx="4343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closes this gap with a structured, safety-first AI assistant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92240" y="1600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asset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72821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5819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18928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confirmed diagnosis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92240" y="25603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assets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68833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69480" y="25420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269480" y="28529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organized guidance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92240" y="35204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assets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64845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3502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Urgency-aware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269480" y="38130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when to seek help now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MediGuide AI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assets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12140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971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patient info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3474720"/>
            <a:ext cx="22951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symptoms, duration, severity, conditions, medications, notes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74720" y="160020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80560" y="19659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assets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12140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39312" y="2971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with an LLM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75888" y="3474720"/>
            <a:ext cx="22951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orchestrates an OpenAI chat model against a safety-first prompt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0" y="160020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06640" y="196596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assets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2121408"/>
            <a:ext cx="374904" cy="3749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65392" y="2971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guidance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601968" y="3474720"/>
            <a:ext cx="22951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possible conditions, urgency, next steps, doctor questions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326880" y="160020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332720" y="1965960"/>
            <a:ext cx="685800" cy="6858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0" name="Image 3" descr="assets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8168" y="2121408"/>
            <a:ext cx="374904" cy="3749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91472" y="2971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urgency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528048" y="3474720"/>
            <a:ext cx="22951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/ EMERGENCY, color-coded for instant clarity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2348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22082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assets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362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65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2468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23487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53712" y="22082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assets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3362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965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03520" y="2468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framework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23487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02752" y="22082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assets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3362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52560" y="1965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(gpt-4o-mini)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052560" y="2468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 provider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5661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23487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04672" y="408279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assets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1081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554480" y="4343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layer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97680" y="35661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23487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53712" y="408279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assets/icons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21081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0352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303520" y="4343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from .env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46720" y="35661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23487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02752" y="408279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5" descr="assets/icon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21081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5256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+ SQLite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9052560" y="4343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caching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Concepts Implemented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81965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5819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18928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the OpenAI chat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73368" y="181965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15819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Human / AI Messages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766560" y="18928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safety rules &amp; send patient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843784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6060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29169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single-string template with 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532888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3368" y="2843784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6060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66560" y="29169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Human conversation for the chain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57016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867912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63016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43000" y="394106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exact schema, parsed safely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3557016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73368" y="3867912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63016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 (+ LCEL fallback)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66560" y="394106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chain for the assessment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581144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892040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465429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43000" y="49651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.stream() into st.write_stream for live text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4581144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3368" y="4892040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465429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766560" y="49651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 &amp; SQLiteCache, switchable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Data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/>
        </p:spPr>
      </p:sp>
      <p:pic>
        <p:nvPicPr>
          <p:cNvPr id="4" name="Image 0" descr="assets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57860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3200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965960" y="3086100"/>
            <a:ext cx="195072" cy="0"/>
          </a:xfrm>
          <a:prstGeom prst="line">
            <a:avLst/>
          </a:prstGeom>
          <a:noFill/>
          <a:ln w="25400">
            <a:solidFill>
              <a:srgbClr val="C7D2CD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161032" y="237744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/>
        </p:spPr>
      </p:sp>
      <p:pic>
        <p:nvPicPr>
          <p:cNvPr id="8" name="Image 1" descr="assets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660" y="257860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23872" y="3200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578352" y="3086100"/>
            <a:ext cx="195072" cy="0"/>
          </a:xfrm>
          <a:prstGeom prst="line">
            <a:avLst/>
          </a:prstGeom>
          <a:noFill/>
          <a:ln w="25400">
            <a:solidFill>
              <a:srgbClr val="C7D2CD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773424" y="237744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/>
        </p:spPr>
      </p:sp>
      <p:pic>
        <p:nvPicPr>
          <p:cNvPr id="12" name="Image 2" descr="assets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052" y="257860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36264" y="3200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cache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190744" y="3086100"/>
            <a:ext cx="195072" cy="0"/>
          </a:xfrm>
          <a:prstGeom prst="line">
            <a:avLst/>
          </a:prstGeom>
          <a:noFill/>
          <a:ln w="25400">
            <a:solidFill>
              <a:srgbClr val="C7D2CD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5385816" y="237744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/>
        </p:spPr>
      </p:sp>
      <p:pic>
        <p:nvPicPr>
          <p:cNvPr id="16" name="Image 3" descr="assets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2578608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3200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chain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803136" y="3086100"/>
            <a:ext cx="195072" cy="0"/>
          </a:xfrm>
          <a:prstGeom prst="line">
            <a:avLst/>
          </a:prstGeom>
          <a:noFill/>
          <a:ln w="25400">
            <a:solidFill>
              <a:srgbClr val="C7D2CD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6998208" y="237744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/>
        </p:spPr>
      </p:sp>
      <p:pic>
        <p:nvPicPr>
          <p:cNvPr id="20" name="Image 4" descr="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836" y="2578608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61048" y="3200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8415528" y="3086100"/>
            <a:ext cx="195072" cy="0"/>
          </a:xfrm>
          <a:prstGeom prst="line">
            <a:avLst/>
          </a:prstGeom>
          <a:noFill/>
          <a:ln w="25400">
            <a:solidFill>
              <a:srgbClr val="C7D2CD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8610600" y="237744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/>
        </p:spPr>
      </p:sp>
      <p:pic>
        <p:nvPicPr>
          <p:cNvPr id="24" name="Image 5" descr="assets/icons/ch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3228" y="2578608"/>
            <a:ext cx="512064" cy="51206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473440" y="3200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narrative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10027920" y="3086100"/>
            <a:ext cx="195072" cy="0"/>
          </a:xfrm>
          <a:prstGeom prst="line">
            <a:avLst/>
          </a:prstGeom>
          <a:noFill/>
          <a:ln w="25400">
            <a:solidFill>
              <a:srgbClr val="C7D2CD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10222992" y="237744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C39A"/>
          </a:solidFill>
          <a:ln/>
        </p:spPr>
      </p:sp>
      <p:pic>
        <p:nvPicPr>
          <p:cNvPr id="28" name="Image 6" descr="assets/icons/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5620" y="2578608"/>
            <a:ext cx="512064" cy="51206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085832" y="3200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dashboard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868680" y="4709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form → build prompt inputs → select cache → build ChatOpenAI + chain → run chain → safely parse JSON → stream narrative → render dashboard.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assessment is tagged with a clear, color-coded urgency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057400"/>
            <a:ext cx="640080" cy="6400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63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monitoring advice, general self-care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6916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38828" y="2057400"/>
            <a:ext cx="640080" cy="64008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3063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38728" y="35661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healthcare professional should be consulted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6916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46036" y="205740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6163056" y="3063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5936" y="35661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professional soon — don’t delay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70264" y="16916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53244" y="205740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8970264" y="3063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53144" y="35661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emergency care immediately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also includes: symptom summary · possible conditions · next steps · doctor questions · warning signs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Caching: Speed Without Sacrificing Freshness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assets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025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7452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2743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(memory)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246120"/>
            <a:ext cx="4709160" cy="0"/>
          </a:xfrm>
          <a:prstGeom prst="line">
            <a:avLst/>
          </a:prstGeom>
          <a:noFill/>
          <a:ln w="9525">
            <a:solidFill>
              <a:srgbClr val="E2E8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3101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26080" y="33101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813048"/>
            <a:ext cx="4709160" cy="0"/>
          </a:xfrm>
          <a:prstGeom prst="line">
            <a:avLst/>
          </a:prstGeom>
          <a:noFill/>
          <a:ln w="9525">
            <a:solidFill>
              <a:srgbClr val="E2E8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87705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387705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4379976"/>
            <a:ext cx="4709160" cy="0"/>
          </a:xfrm>
          <a:prstGeom prst="line">
            <a:avLst/>
          </a:prstGeom>
          <a:noFill/>
          <a:ln w="9525">
            <a:solidFill>
              <a:srgbClr val="E2E8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4439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26080" y="44439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" y="4946904"/>
            <a:ext cx="4709160" cy="0"/>
          </a:xfrm>
          <a:prstGeom prst="line">
            <a:avLst/>
          </a:prstGeom>
          <a:noFill/>
          <a:ln w="9525">
            <a:solidFill>
              <a:srgbClr val="E2E8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60020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0" y="18745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1" descr="assets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002536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187452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SQLiteCache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583680" y="2743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686800" y="2743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on disk (.db)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583680" y="3246120"/>
            <a:ext cx="4709160" cy="0"/>
          </a:xfrm>
          <a:prstGeom prst="line">
            <a:avLst/>
          </a:prstGeom>
          <a:noFill/>
          <a:ln w="9525">
            <a:solidFill>
              <a:srgbClr val="E2E8E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0" y="33101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686800" y="33101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slightly slower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583680" y="3813048"/>
            <a:ext cx="4709160" cy="0"/>
          </a:xfrm>
          <a:prstGeom prst="line">
            <a:avLst/>
          </a:prstGeom>
          <a:noFill/>
          <a:ln w="9525">
            <a:solidFill>
              <a:srgbClr val="E2E8E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83680" y="387705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686800" y="387705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583680" y="4379976"/>
            <a:ext cx="4709160" cy="0"/>
          </a:xfrm>
          <a:prstGeom prst="line">
            <a:avLst/>
          </a:prstGeom>
          <a:noFill/>
          <a:ln w="9525">
            <a:solidFill>
              <a:srgbClr val="E2E8E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83680" y="44439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8686800" y="44439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across sessions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583680" y="4946904"/>
            <a:ext cx="4709160" cy="0"/>
          </a:xfrm>
          <a:prstGeom prst="line">
            <a:avLst/>
          </a:prstGeom>
          <a:noFill/>
          <a:ln w="9525">
            <a:solidFill>
              <a:srgbClr val="E2E8E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3" name="Image 0" descr="assets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Is Non-Negotiable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2066544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1" descr="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139696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69164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labelled an educational AI system — not a doctor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72200" y="169164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10" name="Shape 6"/>
          <p:cNvSpPr/>
          <p:nvPr/>
        </p:nvSpPr>
        <p:spPr>
          <a:xfrm>
            <a:off x="6355080" y="2066544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2" descr="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13969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0" y="169164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presents a confirmed diagnosis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2990088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14" name="Shape 9"/>
          <p:cNvSpPr/>
          <p:nvPr/>
        </p:nvSpPr>
        <p:spPr>
          <a:xfrm>
            <a:off x="731520" y="336499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3" descr="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43814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2990088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shown in the sidebar, main area, and results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172200" y="2990088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18" name="Shape 12"/>
          <p:cNvSpPr/>
          <p:nvPr/>
        </p:nvSpPr>
        <p:spPr>
          <a:xfrm>
            <a:off x="6355080" y="336499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4" descr="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3438144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58000" y="2990088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EMERGENCY-level output tells the user to seek help immediately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48640" y="4288536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22" name="Shape 15"/>
          <p:cNvSpPr/>
          <p:nvPr/>
        </p:nvSpPr>
        <p:spPr>
          <a:xfrm>
            <a:off x="731520" y="466344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5" descr="assets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736592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34440" y="4288536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encodes every safety constraint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172200" y="4288536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26" name="Shape 18"/>
          <p:cNvSpPr/>
          <p:nvPr/>
        </p:nvSpPr>
        <p:spPr>
          <a:xfrm>
            <a:off x="6355080" y="466344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6" descr="assets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4736592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58000" y="4288536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JSON is caught safely — it never crashes the app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LangChain’s Fast-Moving API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 has moved across releases — the code adapts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3969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assets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677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93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0.x / 0.3.x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91640" y="2450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langchain.chains.LLMChain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first →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648456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assets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776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5021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1.x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91640" y="395935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langchain_classic.chains.LLMChain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863840" y="3703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first →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8463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515721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28523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50109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(always works)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91640" y="546811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LCEL — prompt | llm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863840" y="5212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crashes ✓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Repo to Live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3162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assets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38658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src/ package, README, .gitignore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54680" y="3429000"/>
            <a:ext cx="228600" cy="0"/>
          </a:xfrm>
          <a:prstGeom prst="line">
            <a:avLst/>
          </a:prstGeom>
          <a:noFill/>
          <a:ln w="25400">
            <a:solidFill>
              <a:srgbClr val="C7D2C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8328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626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assets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23865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66160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Pinned, version-flexible dependencies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9320" y="3429000"/>
            <a:ext cx="228600" cy="0"/>
          </a:xfrm>
          <a:prstGeom prst="line">
            <a:avLst/>
          </a:prstGeom>
          <a:noFill/>
          <a:ln w="25400">
            <a:solidFill>
              <a:srgbClr val="C7D2CD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21792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0090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assets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4" y="238658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0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from the main branch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823960" y="3429000"/>
            <a:ext cx="228600" cy="0"/>
          </a:xfrm>
          <a:prstGeom prst="line">
            <a:avLst/>
          </a:prstGeom>
          <a:noFill/>
          <a:ln w="25400">
            <a:solidFill>
              <a:srgbClr val="C7D2CD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905256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03554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1844" y="238658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972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35440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zero errors, key entered per visitor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 sajal-mediguide-ai-project.streamlit.app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9144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asse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696" y="111556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188720" y="288036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— safety-first, structured, and always pointing back to a real doctor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727448" y="3611880"/>
            <a:ext cx="2743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39776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next steps: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4343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   ·   Session history   ·   Multi-language UI   ·   Analytics dashboard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57607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2026-08-30T13:41:52Z</dcterms:created>
  <dcterms:modified xsi:type="dcterms:W3CDTF">2026-08-30T13:41:52Z</dcterms:modified>
</cp:coreProperties>
</file>